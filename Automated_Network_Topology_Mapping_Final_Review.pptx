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72" r:id="rId2"/>
    <p:sldId id="273" r:id="rId3"/>
    <p:sldId id="274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08EF5ECC-A395-4E5E-8B83-9053D644BA9B}" type="datetimeFigureOut">
              <a:rPr lang="en-IN" smtClean="0"/>
              <a:pPr/>
              <a:t>07-05-2026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F6DD923-6621-49D6-8749-BAD235885EA8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91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976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67F-F9F6-3187-741E-75FA1389C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AB5ED-8D66-FE64-7DDC-FC6F0167B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83B2F-1CC4-0519-9B38-DC00BF8A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6C7D1-C0C0-9AC4-9739-2E96A8C7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EC568-6773-0979-3A9B-DA2C33EF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23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3DFBF-7C38-A0A3-4177-80DF69C6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FAFA2-4D32-A5F7-41DF-40FF6F3AB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206E2-FA37-FA5A-F261-9017D33A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27E58-4FF7-4A6A-C4D1-530E84D78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46753-159E-01F7-B8FF-FEB2203D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6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31FB-3971-8E8E-C4FB-B48A5002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70185-B488-360F-408E-72BC7F893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2B4AC-9CFA-BFBA-5D97-DF969E43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F4CC2-14C5-71D7-7E25-7B4C66F2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F036E-94BD-56BD-A9B4-A27B3C94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9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0831-0D31-F8C2-0CC1-C467FAF36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A8F7F-C459-17A4-6175-CD4758320A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6B95A-D66F-490B-7383-E27F62AF7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E88DD-4117-D21C-6A13-EE58C7B9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5097A-2F0E-23E1-263B-FD074B134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2AD5A-860A-A49B-9B68-E6211C9A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2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C38A-6EC4-A9E9-DAA8-5070400D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84BA1-2041-69A1-AE2A-218C3256C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DFCAF-3F4B-5017-2F74-8679A0616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5142C-9F8C-5FBA-AC29-497D2B5A2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A6217-0955-3566-A563-938562C57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07F2F0-36DA-31B1-9297-177E65CB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6B093-1619-8ECA-ED6C-44BB515F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9E312-4112-CAAF-C3B1-F1A448BE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1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ABCF-99F9-3555-0B5C-B623C6288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36AEA-62AC-543F-266A-192ED204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2AEA6-D30E-9CEF-18E3-8ED56DDB7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184E0-07AF-5F19-7ED3-FCDE952C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1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20C28-EEC0-FDBE-D75B-C986C8DA8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2B5F8-4632-180E-40C1-0DA662EE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8716D-39AC-A799-F5A3-ED8D87DA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6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5DFF-1416-D9EC-3FA0-447670B6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3CA42-2535-0317-F79C-42FD8D14C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FD1F4-D19E-5C0F-9213-81DF46E6F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0E32F-F7A1-29B7-4B8F-7B9AC556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3504F-A5BD-7686-9E90-1CCB2CF7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8D693-E5EE-BAC3-A730-FCCCD4DD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1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D80D-D4D9-2B4A-12FE-0B285ADB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D7D3B-B8F2-C214-E1A8-1162FDF2E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B2C0E-451F-4AD6-EAF9-5081E9380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8E091-9319-9D23-23CF-0D481F18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92633-8B5E-1D2B-3D3F-6F455A88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4CE16-8342-898E-8763-EF78C61B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77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AB44F-F9A2-0E7C-22CF-88752C15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362BE-3085-765F-E0E3-11AAA8781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F77C6-BEC9-FE1C-C663-277A1DC6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30FF6-AA53-3691-1FA4-2FD6600D5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CF2EC-DF14-7D8A-43AC-A32D4700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0F843E-3ABD-855D-3ED5-D086C6142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94B77-E9A0-16AD-2A79-DFC274702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3FE63-A469-E6F6-C8A8-1A6BC85F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7A938-22A3-F8CE-5C17-6ED0498CB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83648-B870-2A6E-B2F5-66981722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8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4B2A8-D54A-6323-8A8B-40022C128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769EA-E0A2-5CF1-98EE-2F8D15730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D7B37-CADF-5444-D60A-872A159D2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34345-825E-0C30-CD0F-8F165B0C6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B6DD9-6265-5F99-BFC7-A4DF3DBD7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5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501749"/>
            <a:ext cx="9144000" cy="3362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 </a:t>
            </a:r>
            <a:b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College of Engineering and Technology </a:t>
            </a:r>
            <a:b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School of Computing</a:t>
            </a:r>
            <a:b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Major Project - VIVA VOCE</a:t>
            </a:r>
            <a:br>
              <a:rPr lang="en-US" sz="27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Academic Year : 2025-2026</a:t>
            </a:r>
            <a:b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dirty="0"/>
              <a:t>AUTOMATED NETWORK TOPOLOGY DISCOVERY AND ANALYSIS USING CISCO DNA CENTER</a:t>
            </a:r>
            <a:br>
              <a:rPr lang="en-US" sz="4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Project Category: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RESEARCH</a:t>
            </a:r>
            <a:endParaRPr sz="4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408926" y="4133600"/>
            <a:ext cx="11652900" cy="2291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SzPct val="108108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buSzPct val="108108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Guide Name :                                                          Student Name &amp; Registration Number :</a:t>
            </a:r>
            <a:endParaRPr lang="nn-NO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buSzPct val="108108"/>
            </a:pPr>
            <a:r>
              <a:rPr lang="nn-NO" sz="2000" u="sng" dirty="0">
                <a:latin typeface="Times New Roman"/>
                <a:ea typeface="Times New Roman"/>
                <a:cs typeface="Times New Roman"/>
                <a:sym typeface="Times New Roman"/>
              </a:rPr>
              <a:t>Dr. Rajaram V</a:t>
            </a:r>
            <a:r>
              <a:rPr lang="nn-NO" sz="20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		  	                Vedant Pandey – (RA2211029010013) </a:t>
            </a:r>
          </a:p>
          <a:p>
            <a:pPr algn="l">
              <a:buSzPct val="108108"/>
            </a:pPr>
            <a:r>
              <a:rPr lang="en-US" sz="2133" dirty="0">
                <a:latin typeface="Times New Roman"/>
                <a:ea typeface="Times New Roman"/>
                <a:cs typeface="Times New Roman"/>
                <a:sym typeface="Times New Roman"/>
              </a:rPr>
              <a:t>ASSOCIATE PROFESSOR			              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Chiranjeev Kumar – (RA2211029010019) </a:t>
            </a:r>
          </a:p>
          <a:p>
            <a:pPr algn="l">
              <a:buSzPct val="108108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Networking and Communications			          	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" descr="SRM Institute of Science and Technology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0287" y="71920"/>
            <a:ext cx="1661019" cy="165576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6E47AE-5454-B150-D3A5-F15024F31233}"/>
              </a:ext>
            </a:extLst>
          </p:cNvPr>
          <p:cNvSpPr txBox="1"/>
          <p:nvPr/>
        </p:nvSpPr>
        <p:spPr>
          <a:xfrm>
            <a:off x="10230777" y="1844478"/>
            <a:ext cx="1831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7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2026</a:t>
            </a:r>
          </a:p>
        </p:txBody>
      </p:sp>
    </p:spTree>
    <p:extLst>
      <p:ext uri="{BB962C8B-B14F-4D97-AF65-F5344CB8AC3E}">
        <p14:creationId xmlns:p14="http://schemas.microsoft.com/office/powerpoint/2010/main" val="1064552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5B771-0CD9-CB0D-4486-4E19A28DBE58}"/>
              </a:ext>
            </a:extLst>
          </p:cNvPr>
          <p:cNvSpPr txBox="1"/>
          <p:nvPr/>
        </p:nvSpPr>
        <p:spPr>
          <a:xfrm>
            <a:off x="320040" y="218416"/>
            <a:ext cx="185582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B2D92-63A3-1623-E26A-159CE47539F2}"/>
              </a:ext>
            </a:extLst>
          </p:cNvPr>
          <p:cNvSpPr txBox="1"/>
          <p:nvPr/>
        </p:nvSpPr>
        <p:spPr>
          <a:xfrm>
            <a:off x="502920" y="960120"/>
            <a:ext cx="6400800" cy="47089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sz="2000" dirty="0">
                <a:latin typeface="Times New Roman" panose="02020603050405020304" pitchFamily="18" charset="0"/>
              </a:rPr>
              <a:t>Network topology maps are essential for troubleshooting, change management, capacity planning, and security validation.</a:t>
            </a:r>
            <a:endParaRPr lang="en-IN" sz="2000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endParaRPr sz="2000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sz="2000" dirty="0">
                <a:latin typeface="Times New Roman" panose="02020603050405020304" pitchFamily="18" charset="0"/>
              </a:rPr>
              <a:t>This project studies topology discovery across three visibility tiers:</a:t>
            </a:r>
          </a:p>
          <a:p>
            <a:pPr lvl="1"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r>
              <a:rPr sz="1400" dirty="0">
                <a:latin typeface="Times New Roman" panose="02020603050405020304" pitchFamily="18" charset="0"/>
              </a:rPr>
              <a:t>DNAC API for enterprise / managed networks</a:t>
            </a:r>
          </a:p>
          <a:p>
            <a:pPr lvl="1"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r>
              <a:rPr sz="1400" dirty="0">
                <a:latin typeface="Times New Roman" panose="02020603050405020304" pitchFamily="18" charset="0"/>
              </a:rPr>
              <a:t>SNMP + LLDP for multi-vendor / vendor-neutral networks</a:t>
            </a:r>
          </a:p>
          <a:p>
            <a:pPr lvl="1"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r>
              <a:rPr sz="1400" dirty="0">
                <a:latin typeface="Times New Roman" panose="02020603050405020304" pitchFamily="18" charset="0"/>
              </a:rPr>
              <a:t>ARP scanning for unmanaged / consumer networks</a:t>
            </a:r>
            <a:endParaRPr lang="en-IN" sz="1400" dirty="0">
              <a:latin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endParaRPr sz="1400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sz="2000" dirty="0">
                <a:latin typeface="Times New Roman" panose="02020603050405020304" pitchFamily="18" charset="0"/>
              </a:rPr>
              <a:t>A unified Python framework converts every discovery output into a </a:t>
            </a:r>
            <a:r>
              <a:rPr sz="2000" dirty="0" err="1">
                <a:latin typeface="Times New Roman" panose="02020603050405020304" pitchFamily="18" charset="0"/>
              </a:rPr>
              <a:t>NetworkX</a:t>
            </a:r>
            <a:r>
              <a:rPr sz="2000" dirty="0">
                <a:latin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</a:rPr>
              <a:t>DiGraph</a:t>
            </a:r>
            <a:r>
              <a:rPr sz="2000" dirty="0">
                <a:latin typeface="Times New Roman" panose="02020603050405020304" pitchFamily="18" charset="0"/>
              </a:rPr>
              <a:t> for analysis and visualization.</a:t>
            </a:r>
            <a:endParaRPr lang="en-IN" sz="2000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endParaRPr sz="2000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sz="2000" dirty="0">
                <a:latin typeface="Times New Roman" panose="02020603050405020304" pitchFamily="18" charset="0"/>
              </a:rPr>
              <a:t>The comparative study highlights where each approach works best and where it breaks down.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AD8145A3-4EC6-41F6-A058-EDAE6DA1C103}"/>
              </a:ext>
            </a:extLst>
          </p:cNvPr>
          <p:cNvSpPr/>
          <p:nvPr/>
        </p:nvSpPr>
        <p:spPr>
          <a:xfrm>
            <a:off x="7315200" y="1051560"/>
            <a:ext cx="4206240" cy="868680"/>
          </a:xfrm>
          <a:prstGeom prst="roundRect">
            <a:avLst/>
          </a:prstGeom>
          <a:solidFill>
            <a:srgbClr val="3478BA"/>
          </a:solidFill>
          <a:ln>
            <a:solidFill>
              <a:srgbClr val="34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Enterprise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DNAC API gives rich device, site, and link metadata.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492726AB-4310-AC31-A5F0-9D7DB0AD5407}"/>
              </a:ext>
            </a:extLst>
          </p:cNvPr>
          <p:cNvSpPr/>
          <p:nvPr/>
        </p:nvSpPr>
        <p:spPr>
          <a:xfrm>
            <a:off x="7315200" y="2057400"/>
            <a:ext cx="4206240" cy="868680"/>
          </a:xfrm>
          <a:prstGeom prst="roundRect">
            <a:avLst/>
          </a:prstGeom>
          <a:solidFill>
            <a:srgbClr val="3FB458"/>
          </a:solidFill>
          <a:ln>
            <a:solidFill>
              <a:srgbClr val="3FB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Multi-vendor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SNMP/LLDP provides standards-based neighbor discovery.</a:t>
            </a: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4BCE0314-D5B2-C196-2E88-B3BE91A87FA2}"/>
              </a:ext>
            </a:extLst>
          </p:cNvPr>
          <p:cNvSpPr/>
          <p:nvPr/>
        </p:nvSpPr>
        <p:spPr>
          <a:xfrm>
            <a:off x="7315200" y="3063240"/>
            <a:ext cx="4206240" cy="868680"/>
          </a:xfrm>
          <a:prstGeom prst="roundRect">
            <a:avLst/>
          </a:prstGeom>
          <a:solidFill>
            <a:srgbClr val="F2A262"/>
          </a:solidFill>
          <a:ln>
            <a:solidFill>
              <a:srgbClr val="F2A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Unmanaged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ARP reveals reachability, but topology is limited under Proxy ARP.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D3DBFBE1-5B7D-4364-CB74-2A1B3962C187}"/>
              </a:ext>
            </a:extLst>
          </p:cNvPr>
          <p:cNvSpPr/>
          <p:nvPr/>
        </p:nvSpPr>
        <p:spPr>
          <a:xfrm>
            <a:off x="7315200" y="4206240"/>
            <a:ext cx="420624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CF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Goal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Make discovery method selection evidence-based, not guesswork.</a:t>
            </a: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264894A1-B767-106A-9DA9-46A92EFDC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314" y="55147"/>
            <a:ext cx="2378697" cy="80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1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C1727-380C-77EE-ACF7-83960E41758F}"/>
              </a:ext>
            </a:extLst>
          </p:cNvPr>
          <p:cNvSpPr txBox="1"/>
          <p:nvPr/>
        </p:nvSpPr>
        <p:spPr>
          <a:xfrm>
            <a:off x="320040" y="80063"/>
            <a:ext cx="271664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FCFBEA6-2F3F-7210-1BF1-7095222BD7D6}"/>
              </a:ext>
            </a:extLst>
          </p:cNvPr>
          <p:cNvSpPr/>
          <p:nvPr/>
        </p:nvSpPr>
        <p:spPr>
          <a:xfrm>
            <a:off x="502920" y="1051560"/>
            <a:ext cx="3611880" cy="1965960"/>
          </a:xfrm>
          <a:prstGeom prst="roundRect">
            <a:avLst/>
          </a:prstGeom>
          <a:solidFill>
            <a:srgbClr val="3478BA"/>
          </a:solidFill>
          <a:ln>
            <a:solidFill>
              <a:srgbClr val="34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DNAC Scope Limit</a:t>
            </a:r>
          </a:p>
          <a:p>
            <a:pPr algn="ctr"/>
            <a:r>
              <a:rPr sz="1300" dirty="0">
                <a:solidFill>
                  <a:schemeClr val="tx1"/>
                </a:solidFill>
                <a:latin typeface="Times New Roman" panose="02020603050405020304" pitchFamily="18" charset="0"/>
              </a:rPr>
              <a:t>Works only where Cisco DNA Center manages the devices. Outside that boundary, visibility is incomplete.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8BC61B2-C867-EBF0-669C-80345E8CC118}"/>
              </a:ext>
            </a:extLst>
          </p:cNvPr>
          <p:cNvSpPr/>
          <p:nvPr/>
        </p:nvSpPr>
        <p:spPr>
          <a:xfrm>
            <a:off x="4288536" y="1051560"/>
            <a:ext cx="3611880" cy="1965960"/>
          </a:xfrm>
          <a:prstGeom prst="roundRect">
            <a:avLst/>
          </a:prstGeom>
          <a:solidFill>
            <a:srgbClr val="3FB458"/>
          </a:solidFill>
          <a:ln>
            <a:solidFill>
              <a:srgbClr val="3FB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SNMP/LLDP Constraint</a:t>
            </a:r>
          </a:p>
          <a:p>
            <a:pPr algn="ctr"/>
            <a:r>
              <a:rPr sz="1300" dirty="0">
                <a:solidFill>
                  <a:schemeClr val="tx1"/>
                </a:solidFill>
                <a:latin typeface="Times New Roman" panose="02020603050405020304" pitchFamily="18" charset="0"/>
              </a:rPr>
              <a:t>Depends on SNMP availability and LLDP/CDP configuration. It is often partial or disabled in secured networks.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6812E5-8E91-22F6-2A77-4D8DC657202F}"/>
              </a:ext>
            </a:extLst>
          </p:cNvPr>
          <p:cNvSpPr/>
          <p:nvPr/>
        </p:nvSpPr>
        <p:spPr>
          <a:xfrm>
            <a:off x="8074152" y="1051560"/>
            <a:ext cx="3611880" cy="1965960"/>
          </a:xfrm>
          <a:prstGeom prst="roundRect">
            <a:avLst/>
          </a:prstGeom>
          <a:solidFill>
            <a:srgbClr val="F2A262"/>
          </a:solidFill>
          <a:ln>
            <a:solidFill>
              <a:srgbClr val="F2A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ARP Limitation</a:t>
            </a:r>
          </a:p>
          <a:p>
            <a:pPr algn="ctr"/>
            <a:r>
              <a:rPr sz="1300" dirty="0">
                <a:solidFill>
                  <a:schemeClr val="tx1"/>
                </a:solidFill>
                <a:latin typeface="Times New Roman" panose="02020603050405020304" pitchFamily="18" charset="0"/>
              </a:rPr>
              <a:t>Sees only IP reachability. Proxy ARP can collapse many hosts into one gateway MAC, making topology inference unreliable.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97556CF-6439-3C66-B692-886F1A469D6B}"/>
              </a:ext>
            </a:extLst>
          </p:cNvPr>
          <p:cNvSpPr/>
          <p:nvPr/>
        </p:nvSpPr>
        <p:spPr>
          <a:xfrm>
            <a:off x="777240" y="3657600"/>
            <a:ext cx="10607040" cy="1325880"/>
          </a:xfrm>
          <a:prstGeom prst="roundRect">
            <a:avLst/>
          </a:prstGeom>
          <a:solidFill>
            <a:srgbClr val="E8F1FA"/>
          </a:solidFill>
          <a:ln>
            <a:solidFill>
              <a:srgbClr val="CB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Research question</a:t>
            </a:r>
          </a:p>
          <a:p>
            <a:pPr algn="ctr"/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</a:rPr>
              <a:t>How accurate, comprehensive, and universally applicable are API-based, protocol-based, and reachability-based topology discovery techniques?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The project addresses the gap with controlled experiments and a unified scoring framework.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91F44446-CD9B-6947-90B2-2D8E1CF49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74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6240" y="310895"/>
            <a:ext cx="2545120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627336"/>
              </p:ext>
            </p:extLst>
          </p:nvPr>
        </p:nvGraphicFramePr>
        <p:xfrm>
          <a:off x="449580" y="1222653"/>
          <a:ext cx="11292840" cy="501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3295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Work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Technique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Gap / Relevance to this project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3295"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Breitbart et al.</a:t>
                      </a:r>
                    </a:p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</a:rPr>
                        <a:t>SNMP/BRIDGE-MIB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SNMP/MIB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Reconstructs Layer 2 topology from forwarding tables and ARP caches.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Shows SNMP can infer adjacency, but coverage is incomplete.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3295"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Bejerano &amp; Rastogi</a:t>
                      </a:r>
                    </a:p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</a:rPr>
                        <a:t>LLDP algorithms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LLDP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Bidirectional LLDP advertisement enables polynomial-time reconstruction.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Works only when LLDP is enabled end-to-end.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3295"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Cisco DNAC API Guide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API-driven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Provides managed-device inventory, links, and hierarchy through REST endpoints.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Richest metadata, but limited to Cisco-managed visibility.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3295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Donnet</a:t>
                      </a:r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 &amp; Friedman</a:t>
                      </a:r>
                    </a:p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</a:rPr>
                        <a:t>ARP topology survey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ARP / Proxy ARP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Proxy ARP is a major limitation for Internet topology discovery.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Motivates empirical testing of hotspot / consumer networks.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F63F55E0-54F2-CF4A-CDF6-B4C376FED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227979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Existing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05840"/>
            <a:ext cx="5394960" cy="35804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Topology discovery is typically done with a single tool or a single protocol.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Manual mapping is slow, error-prone, and hard to keep current.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Vendor tools provide rich results only inside their own ecosystem.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SNMP-only approaches need access, credentials, and consistent MIB support.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ARP scanners are easy to deploy, but they do not reveal true Layer-2 structure in Proxy ARP networks.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8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Most existing workflows produce static screenshots rather than a reusable graph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440680" cy="1005840"/>
          </a:xfrm>
          <a:prstGeom prst="roundRect">
            <a:avLst/>
          </a:prstGeom>
          <a:solidFill>
            <a:srgbClr val="3478BA"/>
          </a:solidFill>
          <a:ln>
            <a:solidFill>
              <a:srgbClr val="34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Manual diagrams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Outdated soon after creation.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31720"/>
            <a:ext cx="5440680" cy="1005840"/>
          </a:xfrm>
          <a:prstGeom prst="roundRect">
            <a:avLst/>
          </a:prstGeom>
          <a:solidFill>
            <a:srgbClr val="3FB458"/>
          </a:solidFill>
          <a:ln>
            <a:solidFill>
              <a:srgbClr val="3FB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Vendor lock-in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Limited portability between environments.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566160"/>
            <a:ext cx="5440680" cy="1005840"/>
          </a:xfrm>
          <a:prstGeom prst="roundRect">
            <a:avLst/>
          </a:prstGeom>
          <a:solidFill>
            <a:srgbClr val="F2A262"/>
          </a:solidFill>
          <a:ln>
            <a:solidFill>
              <a:srgbClr val="F2A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Reachability only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No reliable adjacency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983480"/>
            <a:ext cx="1097280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Existing systems answer the question “Who is reachable?” better than “What is the actual topology?”</a:t>
            </a: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C38E7539-6066-B28F-63C5-CDC8C2059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369434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Proposed Work Objectives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960120"/>
            <a:ext cx="411480" cy="411480"/>
          </a:xfrm>
          <a:prstGeom prst="ellipse">
            <a:avLst/>
          </a:prstGeom>
          <a:solidFill>
            <a:srgbClr val="347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932688"/>
            <a:ext cx="791485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Implement three separate discovery modules in Python: DNAC, SNMP/LLDP, and ARP.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347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1755648"/>
            <a:ext cx="615283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Normalize every output into a common </a:t>
            </a:r>
            <a:r>
              <a:rPr dirty="0" err="1">
                <a:latin typeface="Times New Roman" panose="02020603050405020304" pitchFamily="18" charset="0"/>
              </a:rPr>
              <a:t>NetworkX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DiGraph</a:t>
            </a:r>
            <a:r>
              <a:rPr dirty="0">
                <a:latin typeface="Times New Roman" panose="02020603050405020304" pitchFamily="18" charset="0"/>
              </a:rPr>
              <a:t> schema.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3FB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2578608"/>
            <a:ext cx="785381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Measure discovery completeness, metadata richness, discovery time, and success rate.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3FB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3401568"/>
            <a:ext cx="756912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Compare the methods side-by-side and generate charts, tables, and a decision tree.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F2A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4224528"/>
            <a:ext cx="773686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Provide a dashboard for topology visualization and evidence-based method selection.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18338" y="5047488"/>
            <a:ext cx="8355323" cy="1005840"/>
          </a:xfrm>
          <a:prstGeom prst="roundRect">
            <a:avLst/>
          </a:prstGeom>
          <a:solidFill>
            <a:srgbClr val="E8F1FA"/>
          </a:solidFill>
          <a:ln>
            <a:solidFill>
              <a:srgbClr val="CB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Outcome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A reproducible research framework for topology discovery.</a:t>
            </a:r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76E3C650-E3A5-C82C-B082-78CE15BCF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783143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Sprint 1 – DNAC API Integration and Topology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914400"/>
            <a:ext cx="5303520" cy="2821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Goal: log in to Cisco DNAC sandbox and extract device inventory plus physical links.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Implemented the DNAC module and constructed the initial </a:t>
            </a:r>
            <a:r>
              <a:rPr dirty="0" err="1">
                <a:latin typeface="Times New Roman" panose="02020603050405020304" pitchFamily="18" charset="0"/>
              </a:rPr>
              <a:t>NetworkX</a:t>
            </a:r>
            <a:r>
              <a:rPr dirty="0">
                <a:latin typeface="Times New Roman" panose="02020603050405020304" pitchFamily="18" charset="0"/>
              </a:rPr>
              <a:t> graph.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Generated PNG-based topology visualizations for the enterprise environment.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Blocker: sandbox maintenance / availability issues; a simulated fallback mode was used.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Result: committed stories were completed; discovery time recorded at about 5.2 seconds.</a:t>
            </a:r>
          </a:p>
        </p:txBody>
      </p:sp>
      <p:pic>
        <p:nvPicPr>
          <p:cNvPr id="9" name="Picture 8" descr="fig_2_3_sprint1_bur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00498"/>
            <a:ext cx="5669280" cy="3100387"/>
          </a:xfrm>
          <a:prstGeom prst="rect">
            <a:avLst/>
          </a:prstGeom>
          <a:ln>
            <a:solidFill>
              <a:srgbClr val="6E7882"/>
            </a:solidFill>
          </a:ln>
        </p:spPr>
      </p:pic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0D72EFF6-DBCE-0206-5F28-AADE0E84B890}"/>
              </a:ext>
            </a:extLst>
          </p:cNvPr>
          <p:cNvSpPr/>
          <p:nvPr/>
        </p:nvSpPr>
        <p:spPr>
          <a:xfrm>
            <a:off x="2414196" y="5042759"/>
            <a:ext cx="7150248" cy="1005840"/>
          </a:xfrm>
          <a:prstGeom prst="roundRect">
            <a:avLst/>
          </a:prstGeom>
          <a:solidFill>
            <a:srgbClr val="E8F1FA"/>
          </a:solidFill>
          <a:ln>
            <a:solidFill>
              <a:srgbClr val="CB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Key deliverable: DNAC discovery pipeline with usable structured topology output.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B7AE22F-D2DA-9F86-8E3E-F117F2DE3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314" y="55147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824745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Sprint 2 – SNMP/LLDP Discovery and Comparative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5303520" cy="2821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Implemented the SNMP/LLDP discovery module for vendor-neutral topology extraction.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Built the comparison engine to evaluate methods on nodes, links, metadata richness, and performance.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Added CSV export and chart generation for side-by-side analysis.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Resolved an </a:t>
            </a:r>
            <a:r>
              <a:rPr dirty="0" err="1">
                <a:latin typeface="Times New Roman" panose="02020603050405020304" pitchFamily="18" charset="0"/>
              </a:rPr>
              <a:t>AttributeError</a:t>
            </a:r>
            <a:r>
              <a:rPr dirty="0">
                <a:latin typeface="Times New Roman" panose="02020603050405020304" pitchFamily="18" charset="0"/>
              </a:rPr>
              <a:t> discovered during review by tightening test coverage and method wiring.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Outcome: SNMP/LLDP correctly produced neighbor data; comparison framework became reusable.</a:t>
            </a:r>
          </a:p>
        </p:txBody>
      </p:sp>
      <p:pic>
        <p:nvPicPr>
          <p:cNvPr id="9" name="Picture 8" descr="fig_2_6_sprint2_bur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00498"/>
            <a:ext cx="5669280" cy="3100387"/>
          </a:xfrm>
          <a:prstGeom prst="rect">
            <a:avLst/>
          </a:prstGeom>
          <a:ln>
            <a:solidFill>
              <a:srgbClr val="6E7882"/>
            </a:solidFill>
          </a:ln>
        </p:spPr>
      </p:pic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F8C82152-2952-2592-3E8C-CD1E22CA7118}"/>
              </a:ext>
            </a:extLst>
          </p:cNvPr>
          <p:cNvSpPr/>
          <p:nvPr/>
        </p:nvSpPr>
        <p:spPr>
          <a:xfrm>
            <a:off x="1995654" y="5066892"/>
            <a:ext cx="8200385" cy="1005840"/>
          </a:xfrm>
          <a:prstGeom prst="roundRect">
            <a:avLst/>
          </a:prstGeom>
          <a:solidFill>
            <a:srgbClr val="E8F1FA"/>
          </a:solidFill>
          <a:ln>
            <a:solidFill>
              <a:srgbClr val="CB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Key deliverable: comparative analysis pipeline with standardized metrics and exportable results.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54677950-0B44-78FF-612B-80A8A53A1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314" y="55147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7820026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Sprint 3 – ARP Scanner, Dashboard, and Final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5349240" cy="2821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Completed ARP scanning, Proxy ARP detection, dashboard, and final decision framework.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Integrated the </a:t>
            </a:r>
            <a:r>
              <a:rPr dirty="0" err="1">
                <a:latin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</a:rPr>
              <a:t>-based live view and the final chart set for presentation.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Fixed the </a:t>
            </a:r>
            <a:r>
              <a:rPr dirty="0" err="1">
                <a:latin typeface="Times New Roman" panose="02020603050405020304" pitchFamily="18" charset="0"/>
              </a:rPr>
              <a:t>arp_nodes</a:t>
            </a:r>
            <a:r>
              <a:rPr dirty="0">
                <a:latin typeface="Times New Roman" panose="02020603050405020304" pitchFamily="18" charset="0"/>
              </a:rPr>
              <a:t> scope issue that appeared when ARP responses were blank.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Verified Proxy ARP behavior on hotspot-style networks, where many IPs map to one MAC.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Result: all sprint stories were completed and the full framework reached final form.</a:t>
            </a:r>
          </a:p>
        </p:txBody>
      </p:sp>
      <p:pic>
        <p:nvPicPr>
          <p:cNvPr id="9" name="Picture 8" descr="fig_2_10_sprint3_bur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87996"/>
            <a:ext cx="5715000" cy="3125390"/>
          </a:xfrm>
          <a:prstGeom prst="rect">
            <a:avLst/>
          </a:prstGeom>
          <a:ln>
            <a:solidFill>
              <a:srgbClr val="6E7882"/>
            </a:solidFill>
          </a:ln>
        </p:spPr>
      </p:pic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FF747B43-FD0F-BF5C-FFB2-EB7F8CCBA16F}"/>
              </a:ext>
            </a:extLst>
          </p:cNvPr>
          <p:cNvSpPr/>
          <p:nvPr/>
        </p:nvSpPr>
        <p:spPr>
          <a:xfrm>
            <a:off x="1918116" y="5126733"/>
            <a:ext cx="7410887" cy="1005840"/>
          </a:xfrm>
          <a:prstGeom prst="roundRect">
            <a:avLst/>
          </a:prstGeom>
          <a:solidFill>
            <a:srgbClr val="E8F1FA"/>
          </a:solidFill>
          <a:ln>
            <a:solidFill>
              <a:srgbClr val="CB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Final sprint emphasis: operational completeness, dashboard presentation, and decision support for method selection.</a:t>
            </a:r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799C1863-FAC4-CA1B-1DFD-6913F9D28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415043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Proposed System Architecture</a:t>
            </a:r>
          </a:p>
        </p:txBody>
      </p:sp>
      <p:pic>
        <p:nvPicPr>
          <p:cNvPr id="8" name="Picture 7" descr="fig_1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767" y="914400"/>
            <a:ext cx="7099985" cy="4892040"/>
          </a:xfrm>
          <a:prstGeom prst="rect">
            <a:avLst/>
          </a:prstGeom>
          <a:ln>
            <a:solidFill>
              <a:srgbClr val="6E788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013986" y="5897880"/>
            <a:ext cx="595066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latin typeface="Times New Roman" panose="02020603050405020304" pitchFamily="18" charset="0"/>
              </a:rPr>
              <a:t>Layers: Discovery → Graph Model → Analytics &amp; Intelligence → Presentation / Export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66819D7-B9C8-D74F-56F8-FEBA4B51E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289534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Algorithms Involved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05840"/>
            <a:ext cx="5394960" cy="1325880"/>
          </a:xfrm>
          <a:prstGeom prst="roundRect">
            <a:avLst/>
          </a:prstGeom>
          <a:solidFill>
            <a:srgbClr val="3478BA"/>
          </a:solidFill>
          <a:ln>
            <a:solidFill>
              <a:srgbClr val="34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DNAC API workflow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Authenticate → pull network-device and physical-topology data → build graph.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005840"/>
            <a:ext cx="5394960" cy="1325880"/>
          </a:xfrm>
          <a:prstGeom prst="roundRect">
            <a:avLst/>
          </a:prstGeom>
          <a:solidFill>
            <a:srgbClr val="3FB458"/>
          </a:solidFill>
          <a:ln>
            <a:solidFill>
              <a:srgbClr val="3FB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SNMP/LLDP workflow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SNMP walk / LLDP neighbor extraction → resolve links → enrich metadata.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5394960" cy="1325880"/>
          </a:xfrm>
          <a:prstGeom prst="roundRect">
            <a:avLst/>
          </a:prstGeom>
          <a:solidFill>
            <a:srgbClr val="F2A262"/>
          </a:solidFill>
          <a:ln>
            <a:solidFill>
              <a:srgbClr val="F2A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ARP / Proxy ARP scan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Scan subnet → record replies → detect gateway MAC collapse.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880360"/>
            <a:ext cx="5394960" cy="1325880"/>
          </a:xfrm>
          <a:prstGeom prst="roundRect">
            <a:avLst/>
          </a:prstGeom>
          <a:solidFill>
            <a:srgbClr val="764FC2"/>
          </a:solidFill>
          <a:ln>
            <a:solidFill>
              <a:srgbClr val="76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Comparator / scoring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Normalize metrics, rank methods, and generate a decision tree.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49240"/>
            <a:ext cx="10972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Common output: a </a:t>
            </a:r>
            <a:r>
              <a:rPr sz="13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NetworkX</a:t>
            </a:r>
            <a:r>
              <a:rPr sz="13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sz="13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DiGraph</a:t>
            </a:r>
            <a:r>
              <a:rPr sz="13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plus a comparison matrix for quantitative evaluation.</a:t>
            </a: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3B3F20CB-20DB-22AD-87F7-9745A26DD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2287806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04594"/>
            <a:ext cx="5228577" cy="3559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Core code lives in the </a:t>
            </a:r>
            <a:r>
              <a:rPr dirty="0" err="1">
                <a:latin typeface="Times New Roman" panose="02020603050405020304" pitchFamily="18" charset="0"/>
              </a:rPr>
              <a:t>NW_Topology_Map</a:t>
            </a:r>
            <a:r>
              <a:rPr dirty="0">
                <a:latin typeface="Times New Roman" panose="02020603050405020304" pitchFamily="18" charset="0"/>
              </a:rPr>
              <a:t> and code/files folders.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Main modules include </a:t>
            </a:r>
            <a:r>
              <a:rPr lang="en-IN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dnac_topology.py, network_topology.py, nw_map.py, wifi_device_discovery.py, comparative_analysis.py, dashboard.py, and main_research_framework.py.</a:t>
            </a:r>
            <a:endParaRPr lang="en-IN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Python libraries: </a:t>
            </a:r>
            <a:endParaRPr lang="en-IN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NetworkX</a:t>
            </a:r>
            <a:r>
              <a:rPr dirty="0">
                <a:latin typeface="Times New Roman" panose="02020603050405020304" pitchFamily="18" charset="0"/>
              </a:rPr>
              <a:t>, Matplotlib, </a:t>
            </a:r>
            <a:r>
              <a:rPr dirty="0" err="1">
                <a:latin typeface="Times New Roman" panose="02020603050405020304" pitchFamily="18" charset="0"/>
              </a:rPr>
              <a:t>PyVis</a:t>
            </a:r>
            <a:r>
              <a:rPr dirty="0">
                <a:latin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</a:rPr>
              <a:t>/Flask style dashboarding, and protocol-specific networking libraries.</a:t>
            </a:r>
            <a:endParaRPr lang="en-IN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Outputs include topology graphs, comparison tables, radar/bar charts, and decision logic artifacts.</a:t>
            </a:r>
          </a:p>
        </p:txBody>
      </p:sp>
      <p:pic>
        <p:nvPicPr>
          <p:cNvPr id="9" name="Picture 8" descr="fig_2_2_dnac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921" y="885413"/>
            <a:ext cx="3620636" cy="2697480"/>
          </a:xfrm>
          <a:prstGeom prst="rect">
            <a:avLst/>
          </a:prstGeom>
          <a:ln>
            <a:solidFill>
              <a:srgbClr val="6E7882"/>
            </a:solidFill>
          </a:ln>
        </p:spPr>
      </p:pic>
      <p:pic>
        <p:nvPicPr>
          <p:cNvPr id="10" name="Picture 9" descr="fig_2_9_pyvis_top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921" y="3732307"/>
            <a:ext cx="3532132" cy="2240280"/>
          </a:xfrm>
          <a:prstGeom prst="rect">
            <a:avLst/>
          </a:prstGeom>
          <a:ln>
            <a:solidFill>
              <a:srgbClr val="6E7882"/>
            </a:solidFill>
          </a:ln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81514EB6-558E-9AE6-D843-CB4D9190B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318067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Results and Discussion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14400"/>
          <a:ext cx="7680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Nodes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Links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Metadata Richness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Discovery Time (s)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DNAC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60%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5.20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SNMP_LLDP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40%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8.70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ARP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30%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3041"/>
                          </a:solidFill>
                          <a:latin typeface="Times New Roman" panose="02020603050405020304" pitchFamily="18" charset="0"/>
                        </a:rPr>
                        <a:t>4.21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fig_3_1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70332"/>
            <a:ext cx="5715000" cy="2603335"/>
          </a:xfrm>
          <a:prstGeom prst="rect">
            <a:avLst/>
          </a:prstGeom>
          <a:ln>
            <a:solidFill>
              <a:srgbClr val="6E7882"/>
            </a:solidFill>
          </a:ln>
        </p:spPr>
      </p:pic>
      <p:pic>
        <p:nvPicPr>
          <p:cNvPr id="10" name="Picture 9" descr="fig_3_2_rad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485" y="3200400"/>
            <a:ext cx="3056708" cy="2743200"/>
          </a:xfrm>
          <a:prstGeom prst="rect">
            <a:avLst/>
          </a:prstGeom>
          <a:ln>
            <a:solidFill>
              <a:srgbClr val="6E788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02030" y="5943600"/>
            <a:ext cx="1017458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>
                <a:latin typeface="Times New Roman" panose="02020603050405020304" pitchFamily="18" charset="0"/>
              </a:rPr>
              <a:t>Takeaway: DNAC is strongest for managed enterprise visibility, SNMP/LLDP is best for vendor-neutral connectivity, and ARP is fastest but topology-limited under Proxy ARP.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90DB6039-DDAA-31A9-21DB-64DD394F8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165622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789920" cy="1959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The framework demonstrates that no single discovery method is universally optimal.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9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DNAC gives the richest and most complete view where a management platform exists.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9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SNMP/LLDP provides a practical middle ground for heterogeneous enterprise networks.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9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ARP scanning is useful for quick reachability checks, but it does not recover true topology in Proxy ARP-heavy environments.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900">
                <a:solidFill>
                  <a:srgbClr val="283041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The common graph model and comparative metrics make method choice reproducible and explainable.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303520"/>
            <a:ext cx="10058400" cy="731520"/>
          </a:xfrm>
          <a:prstGeom prst="roundRect">
            <a:avLst/>
          </a:prstGeom>
          <a:solidFill>
            <a:srgbClr val="E8F1FA"/>
          </a:solidFill>
          <a:ln>
            <a:solidFill>
              <a:srgbClr val="CB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The project turns topology discovery into a measurable engineering decision.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BAE927AA-919C-B2B9-7F5F-F2C7A7821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6911"/>
            <a:ext cx="531190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Times New Roman" panose="02020603050405020304" pitchFamily="18" charset="0"/>
              </a:rPr>
              <a:t>Project Outcome – Patent / Publication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968" y="2173350"/>
            <a:ext cx="5394960" cy="1828800"/>
          </a:xfrm>
          <a:prstGeom prst="roundRect">
            <a:avLst/>
          </a:prstGeom>
          <a:solidFill>
            <a:srgbClr val="EFF6FC"/>
          </a:solidFill>
          <a:ln>
            <a:solidFill>
              <a:srgbClr val="CB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Publication</a:t>
            </a:r>
          </a:p>
          <a:p>
            <a:pPr algn="ctr"/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</a:rPr>
              <a:t>Paper accepted for presentation at DIGI-SUSTAIN 2026.</a:t>
            </a:r>
          </a:p>
          <a:p>
            <a:pPr algn="ctr"/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Title: Network Topology Discovery as a Digital Transformation Enabler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62ABD8-CDCB-76CB-21CA-92605B08D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485" y="850224"/>
            <a:ext cx="5984623" cy="5024348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01FF6B9-9A07-E4CF-E4BC-64E331E7B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0063"/>
            <a:ext cx="161377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10789920" cy="1826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Cisco Systems, Cisco DNA Center Platform API Reference Guide, Release 2.3, 2022.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A. Breitbart et al., SNMP / BRIDGE-MIB topology reconstruction for Layer-2 networks.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A. Bejerano and R. Rastogi, efficient LLDP-based topology inference algorithms.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B. Donnet and T. Friedman, Internet Topology Discovery: A Survey, 2007.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NetworkX documentation / Hagberg et al., graph modeling for topology analysis.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>
                <a:solidFill>
                  <a:srgbClr val="2830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codebase and report figures from the uploaded major project archive.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B1BADED-3029-87D8-DE6E-FD6CFA63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FBFD1-57AD-3C0D-346C-C1E79E2CF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AE521A8-E264-F3B0-9932-E22601F32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314" y="45720"/>
            <a:ext cx="2378697" cy="8070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D32E5E-4350-8166-AAD2-1C9A160E95C2}"/>
              </a:ext>
            </a:extLst>
          </p:cNvPr>
          <p:cNvSpPr txBox="1"/>
          <p:nvPr/>
        </p:nvSpPr>
        <p:spPr>
          <a:xfrm>
            <a:off x="3800420" y="2228671"/>
            <a:ext cx="45908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28104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1395</Words>
  <Application>Microsoft Office PowerPoint</Application>
  <PresentationFormat>Widescreen</PresentationFormat>
  <Paragraphs>165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 Light</vt:lpstr>
      <vt:lpstr>Times New Roman</vt:lpstr>
      <vt:lpstr>Office Theme</vt:lpstr>
      <vt:lpstr>SRM Institute of Science and Technology  College of Engineering and Technology  School of Computing  Major Project - VIVA VOCE Academic Year : 2025-2026 AUTOMATED NETWORK TOPOLOGY DISCOVERY AND ANALYSIS USING CISCO DNA CENTER Project Category: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Vedant Pandey</cp:lastModifiedBy>
  <cp:revision>49</cp:revision>
  <dcterms:created xsi:type="dcterms:W3CDTF">2013-01-27T09:14:16Z</dcterms:created>
  <dcterms:modified xsi:type="dcterms:W3CDTF">2026-05-07T04:44:22Z</dcterms:modified>
  <cp:category/>
</cp:coreProperties>
</file>